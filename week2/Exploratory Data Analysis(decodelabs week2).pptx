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15"/>
  </p:notesMasterIdLst>
  <p:handoutMasterIdLst>
    <p:handoutMasterId r:id="rId16"/>
  </p:handoutMasterIdLst>
  <p:sldIdLst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howGuides="1">
      <p:cViewPr varScale="1">
        <p:scale>
          <a:sx n="117" d="100"/>
          <a:sy n="117" d="100"/>
        </p:scale>
        <p:origin x="35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feanyi Iroha" userId="32cd3c39d75162a4" providerId="LiveId" clId="{8698A967-B2B0-4F03-8FDA-5C6EEC9B2AFF}"/>
    <pc:docChg chg="modSld">
      <pc:chgData name="Ifeanyi Iroha" userId="32cd3c39d75162a4" providerId="LiveId" clId="{8698A967-B2B0-4F03-8FDA-5C6EEC9B2AFF}" dt="2026-06-02T15:42:31.802" v="7" actId="20577"/>
      <pc:docMkLst>
        <pc:docMk/>
      </pc:docMkLst>
      <pc:sldChg chg="modSp mod">
        <pc:chgData name="Ifeanyi Iroha" userId="32cd3c39d75162a4" providerId="LiveId" clId="{8698A967-B2B0-4F03-8FDA-5C6EEC9B2AFF}" dt="2026-06-02T15:41:49.672" v="1" actId="403"/>
        <pc:sldMkLst>
          <pc:docMk/>
          <pc:sldMk cId="4236398081" sldId="262"/>
        </pc:sldMkLst>
        <pc:spChg chg="mod">
          <ac:chgData name="Ifeanyi Iroha" userId="32cd3c39d75162a4" providerId="LiveId" clId="{8698A967-B2B0-4F03-8FDA-5C6EEC9B2AFF}" dt="2026-06-02T15:41:49.672" v="1" actId="403"/>
          <ac:spMkLst>
            <pc:docMk/>
            <pc:sldMk cId="4236398081" sldId="262"/>
            <ac:spMk id="3" creationId="{13488054-CF86-9237-C521-639C570A3A8F}"/>
          </ac:spMkLst>
        </pc:spChg>
      </pc:sldChg>
      <pc:sldChg chg="modSp mod">
        <pc:chgData name="Ifeanyi Iroha" userId="32cd3c39d75162a4" providerId="LiveId" clId="{8698A967-B2B0-4F03-8FDA-5C6EEC9B2AFF}" dt="2026-06-02T15:42:31.802" v="7" actId="20577"/>
        <pc:sldMkLst>
          <pc:docMk/>
          <pc:sldMk cId="4212901638" sldId="266"/>
        </pc:sldMkLst>
        <pc:spChg chg="mod">
          <ac:chgData name="Ifeanyi Iroha" userId="32cd3c39d75162a4" providerId="LiveId" clId="{8698A967-B2B0-4F03-8FDA-5C6EEC9B2AFF}" dt="2026-06-02T15:42:31.802" v="7" actId="20577"/>
          <ac:spMkLst>
            <pc:docMk/>
            <pc:sldMk cId="4212901638" sldId="266"/>
            <ac:spMk id="7" creationId="{6524B067-1A7C-0CAE-691B-20652998C85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week%202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week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week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week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week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2.xlsx]Pivot table!PivotTable3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Total Revenue by Products</a:t>
            </a:r>
          </a:p>
        </c:rich>
      </c:tx>
      <c:layout>
        <c:manualLayout>
          <c:xMode val="edge"/>
          <c:yMode val="edge"/>
          <c:x val="0.13211111111111112"/>
          <c:y val="9.25925925925925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"/>
              <c:y val="5.555555555555560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6.666666666666668E-2"/>
              <c:y val="-6.94444444444444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189814814814814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3.0555555555555555E-2"/>
              <c:y val="-9.259259259259258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5.5555555555555558E-3"/>
              <c:y val="5.5555555555555552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"/>
              <c:y val="5.555555555555560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6.666666666666668E-2"/>
              <c:y val="-6.94444444444444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5.5555555555555558E-3"/>
              <c:y val="5.5555555555555552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3.0555555555555555E-2"/>
              <c:y val="-9.259259259259258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189814814814814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"/>
              <c:y val="5.555555555555560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6.666666666666668E-2"/>
              <c:y val="-6.94444444444444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5.5555555555555558E-3"/>
              <c:y val="5.5555555555555552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3.0555555555555555E-2"/>
              <c:y val="-9.259259259259258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189814814814814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"/>
              <c:y val="5.555555555555560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0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6.666666666666668E-2"/>
              <c:y val="-6.94444444444444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1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5.5555555555555558E-3"/>
              <c:y val="5.5555555555555552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3.0555555555555555E-2"/>
              <c:y val="-9.259259259259258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3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189814814814814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5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"/>
              <c:y val="5.555555555555560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6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6.666666666666668E-2"/>
              <c:y val="-6.94444444444444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7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5.5555555555555558E-3"/>
              <c:y val="5.5555555555555552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3.0555555555555555E-2"/>
              <c:y val="-9.259259259259258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9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189814814814814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1.2910798122065728E-2"/>
          <c:y val="0.12818153658740275"/>
          <c:w val="0.613849765258216"/>
          <c:h val="0.547669321728896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C9-49BA-AFC6-91AC4CE9ACA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C9-49BA-AFC6-91AC4CE9ACAD}"/>
              </c:ext>
            </c:extLst>
          </c:dPt>
          <c:dLbls>
            <c:dLbl>
              <c:idx val="0"/>
              <c:layout>
                <c:manualLayout>
                  <c:x val="2.3474178403755843E-3"/>
                  <c:y val="-4.039255635141401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C9-49BA-AFC6-91AC4CE9ACAD}"/>
                </c:ext>
              </c:extLst>
            </c:dLbl>
            <c:dLbl>
              <c:idx val="1"/>
              <c:layout>
                <c:manualLayout>
                  <c:x val="2.9577464788732393E-2"/>
                  <c:y val="-5.647852131635386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C9-49BA-AFC6-91AC4CE9ACAD}"/>
                </c:ext>
              </c:extLst>
            </c:dLbl>
            <c:dLbl>
              <c:idx val="3"/>
              <c:layout>
                <c:manualLayout>
                  <c:x val="-5.5555555555555558E-3"/>
                  <c:y val="5.555555555555555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1C9-49BA-AFC6-91AC4CE9ACAD}"/>
                </c:ext>
              </c:extLst>
            </c:dLbl>
            <c:dLbl>
              <c:idx val="4"/>
              <c:layout>
                <c:manualLayout>
                  <c:x val="3.0555555555555555E-2"/>
                  <c:y val="-9.259259259259258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C9-49BA-AFC6-91AC4CE9ACAD}"/>
                </c:ext>
              </c:extLst>
            </c:dLbl>
            <c:dLbl>
              <c:idx val="6"/>
              <c:layout>
                <c:manualLayout>
                  <c:x val="-1.0185067526415994E-16"/>
                  <c:y val="-0.1898148148148148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1C9-49BA-AFC6-91AC4CE9ACAD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table'!$A$3:$A$10</c:f>
              <c:strCache>
                <c:ptCount val="7"/>
                <c:pt idx="0">
                  <c:v>Chair</c:v>
                </c:pt>
                <c:pt idx="1">
                  <c:v>Printer</c:v>
                </c:pt>
                <c:pt idx="2">
                  <c:v>Laptop</c:v>
                </c:pt>
                <c:pt idx="3">
                  <c:v>Tablet</c:v>
                </c:pt>
                <c:pt idx="4">
                  <c:v>Monitor</c:v>
                </c:pt>
                <c:pt idx="5">
                  <c:v>Desk</c:v>
                </c:pt>
                <c:pt idx="6">
                  <c:v>Phone</c:v>
                </c:pt>
              </c:strCache>
            </c:strRef>
          </c:cat>
          <c:val>
            <c:numRef>
              <c:f>'Pivot table'!$B$3:$B$10</c:f>
              <c:numCache>
                <c:formatCode>0.00</c:formatCode>
                <c:ptCount val="7"/>
                <c:pt idx="0">
                  <c:v>195620.11000000002</c:v>
                </c:pt>
                <c:pt idx="1">
                  <c:v>195612.60999999996</c:v>
                </c:pt>
                <c:pt idx="2">
                  <c:v>192126.55999999994</c:v>
                </c:pt>
                <c:pt idx="3">
                  <c:v>186568.95000000007</c:v>
                </c:pt>
                <c:pt idx="4">
                  <c:v>175651.40999999997</c:v>
                </c:pt>
                <c:pt idx="5">
                  <c:v>167459.93</c:v>
                </c:pt>
                <c:pt idx="6">
                  <c:v>151722.39000000001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1C9-49BA-AFC6-91AC4CE9A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8302160"/>
        <c:axId val="288286800"/>
      </c:barChart>
      <c:catAx>
        <c:axId val="2883021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88286800"/>
        <c:crosses val="autoZero"/>
        <c:auto val="1"/>
        <c:lblAlgn val="ctr"/>
        <c:lblOffset val="100"/>
        <c:noMultiLvlLbl val="0"/>
      </c:catAx>
      <c:valAx>
        <c:axId val="288286800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288302160"/>
        <c:crosses val="autoZero"/>
        <c:crossBetween val="between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2.xlsx]Pivot table!PivotTable5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Most</a:t>
            </a:r>
            <a:r>
              <a:rPr lang="en-US" sz="2400" b="1" baseline="0"/>
              <a:t> Payment Method Used</a:t>
            </a:r>
            <a:endParaRPr lang="en-US" sz="24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4166666666666655"/>
              <c:y val="-6.0185185185185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5555555555555556"/>
              <c:y val="-8.33333333333333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9.4444444444444442E-2"/>
              <c:y val="0.101851851851851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222222222222222"/>
              <c:y val="0.1342592592592590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388888888888889"/>
              <c:y val="4.166666666666666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4166666666666655"/>
              <c:y val="-6.0185185185185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388888888888889"/>
              <c:y val="4.166666666666666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222222222222222"/>
              <c:y val="0.1342592592592590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9.4444444444444442E-2"/>
              <c:y val="0.101851851851851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5555555555555556"/>
              <c:y val="-8.33333333333333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4166666666666655"/>
              <c:y val="-6.0185185185185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388888888888889"/>
              <c:y val="4.166666666666666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222222222222222"/>
              <c:y val="0.1342592592592590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9.4444444444444442E-2"/>
              <c:y val="0.101851851851851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5555555555555556"/>
              <c:y val="-8.33333333333333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4166666666666655"/>
              <c:y val="-6.0185185185185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388888888888889"/>
              <c:y val="4.166666666666666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1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222222222222222"/>
              <c:y val="0.1342592592592590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9.4444444444444442E-2"/>
              <c:y val="0.101851851851851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3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5555555555555556"/>
              <c:y val="-8.33333333333333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5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4166666666666655"/>
              <c:y val="-6.0185185185185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388888888888889"/>
              <c:y val="4.166666666666666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7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222222222222222"/>
              <c:y val="0.1342592592592590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9.4444444444444442E-2"/>
              <c:y val="0.1018518518518518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9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5555555555555556"/>
              <c:y val="-8.33333333333333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'Pivot table'!$B$27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</c:spPr>
          <c:dPt>
            <c:idx val="0"/>
            <c:bubble3D val="0"/>
            <c:explosion val="7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86-42CF-A446-0311F0170217}"/>
              </c:ext>
            </c:extLst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86-42CF-A446-0311F0170217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86-42CF-A446-0311F0170217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86-42CF-A446-0311F0170217}"/>
              </c:ext>
            </c:extLst>
          </c:dPt>
          <c:dPt>
            <c:idx val="4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186-42CF-A446-0311F0170217}"/>
              </c:ext>
            </c:extLst>
          </c:dPt>
          <c:dLbls>
            <c:dLbl>
              <c:idx val="0"/>
              <c:layout>
                <c:manualLayout>
                  <c:x val="0.14166666666666655"/>
                  <c:y val="-6.01851851851852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86-42CF-A446-0311F0170217}"/>
                </c:ext>
              </c:extLst>
            </c:dLbl>
            <c:dLbl>
              <c:idx val="1"/>
              <c:layout>
                <c:manualLayout>
                  <c:x val="0.1388888888888889"/>
                  <c:y val="4.166666666666666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86-42CF-A446-0311F0170217}"/>
                </c:ext>
              </c:extLst>
            </c:dLbl>
            <c:dLbl>
              <c:idx val="2"/>
              <c:layout>
                <c:manualLayout>
                  <c:x val="0.12222222222222222"/>
                  <c:y val="0.1342592592592590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86-42CF-A446-0311F0170217}"/>
                </c:ext>
              </c:extLst>
            </c:dLbl>
            <c:dLbl>
              <c:idx val="3"/>
              <c:layout>
                <c:manualLayout>
                  <c:x val="-9.4444444444444442E-2"/>
                  <c:y val="0.1018518518518518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186-42CF-A446-0311F0170217}"/>
                </c:ext>
              </c:extLst>
            </c:dLbl>
            <c:dLbl>
              <c:idx val="4"/>
              <c:layout>
                <c:manualLayout>
                  <c:x val="-0.15555555555555556"/>
                  <c:y val="-8.33333333333333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186-42CF-A446-0311F017021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'Pivot table'!$A$28:$A$33</c:f>
              <c:strCache>
                <c:ptCount val="5"/>
                <c:pt idx="0">
                  <c:v>Online</c:v>
                </c:pt>
                <c:pt idx="1">
                  <c:v>Cash</c:v>
                </c:pt>
                <c:pt idx="2">
                  <c:v>Credit Card</c:v>
                </c:pt>
                <c:pt idx="3">
                  <c:v>Debit Card</c:v>
                </c:pt>
                <c:pt idx="4">
                  <c:v>Gift Card</c:v>
                </c:pt>
              </c:strCache>
            </c:strRef>
          </c:cat>
          <c:val>
            <c:numRef>
              <c:f>'Pivot table'!$B$28:$B$33</c:f>
              <c:numCache>
                <c:formatCode>General</c:formatCode>
                <c:ptCount val="5"/>
                <c:pt idx="0">
                  <c:v>258</c:v>
                </c:pt>
                <c:pt idx="1">
                  <c:v>246</c:v>
                </c:pt>
                <c:pt idx="2">
                  <c:v>234</c:v>
                </c:pt>
                <c:pt idx="3">
                  <c:v>232</c:v>
                </c:pt>
                <c:pt idx="4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186-42CF-A446-0311F01702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[week 2.xlsx]Pivot table!PivotTable7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2400" b="1">
                <a:solidFill>
                  <a:schemeClr val="bg1"/>
                </a:solidFill>
              </a:rPr>
              <a:t>Where</a:t>
            </a:r>
            <a:r>
              <a:rPr lang="en-US" sz="2400" b="1" baseline="0">
                <a:solidFill>
                  <a:schemeClr val="bg1"/>
                </a:solidFill>
              </a:rPr>
              <a:t> Most Customers Came From</a:t>
            </a:r>
            <a:endParaRPr lang="en-US" sz="24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table'!$B$47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3A-426F-9BA5-19AE417D2636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table'!$A$48:$A$53</c:f>
              <c:strCache>
                <c:ptCount val="5"/>
                <c:pt idx="0">
                  <c:v>Instagram</c:v>
                </c:pt>
                <c:pt idx="1">
                  <c:v>Email</c:v>
                </c:pt>
                <c:pt idx="2">
                  <c:v>Google</c:v>
                </c:pt>
                <c:pt idx="3">
                  <c:v>Facebook</c:v>
                </c:pt>
                <c:pt idx="4">
                  <c:v>Referral</c:v>
                </c:pt>
              </c:strCache>
            </c:strRef>
          </c:cat>
          <c:val>
            <c:numRef>
              <c:f>'Pivot table'!$B$48:$B$53</c:f>
              <c:numCache>
                <c:formatCode>General</c:formatCode>
                <c:ptCount val="5"/>
                <c:pt idx="0">
                  <c:v>259</c:v>
                </c:pt>
                <c:pt idx="1">
                  <c:v>250</c:v>
                </c:pt>
                <c:pt idx="2">
                  <c:v>241</c:v>
                </c:pt>
                <c:pt idx="3">
                  <c:v>228</c:v>
                </c:pt>
                <c:pt idx="4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3A-426F-9BA5-19AE417D2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4019232"/>
        <c:axId val="1824021632"/>
      </c:barChart>
      <c:catAx>
        <c:axId val="1824019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24021632"/>
        <c:crosses val="autoZero"/>
        <c:auto val="1"/>
        <c:lblAlgn val="ctr"/>
        <c:lblOffset val="100"/>
        <c:noMultiLvlLbl val="0"/>
      </c:catAx>
      <c:valAx>
        <c:axId val="1824021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24019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2.xlsx]Pivot table!PivotTable8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Revenue</a:t>
            </a:r>
            <a:r>
              <a:rPr lang="en-US" sz="2400" b="1" baseline="0"/>
              <a:t> Generated by Year</a:t>
            </a:r>
            <a:endParaRPr lang="en-US" sz="24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2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2142457746339"/>
              <c:y val="-6.1895538688163859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80113318661861"/>
              <c:y val="-0.1186331158189807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24106843309751"/>
              <c:y val="9.456153616842638E-1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2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2142457746339"/>
              <c:y val="-6.1895538688163859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24106843309751"/>
              <c:y val="9.456153616842638E-1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80113318661861"/>
              <c:y val="-0.1186331158189807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2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2142457746339"/>
              <c:y val="-6.1895538688163859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24106843309751"/>
              <c:y val="9.456153616842638E-1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80113318661861"/>
              <c:y val="-0.1186331158189807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2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2142457746339"/>
              <c:y val="-6.1895538688163859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24106843309751"/>
              <c:y val="9.456153616842638E-1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80113318661861"/>
              <c:y val="-0.1186331158189807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2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2142457746339"/>
              <c:y val="-6.1895538688163859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24106843309751"/>
              <c:y val="9.456153616842638E-1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2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80113318661861"/>
              <c:y val="-0.1186331158189807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'Pivot table'!$B$58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</c:spPr>
          <c:dPt>
            <c:idx val="0"/>
            <c:bubble3D val="0"/>
            <c:explosion val="11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AD-4EB1-B351-D1E7C6E4C991}"/>
              </c:ext>
            </c:extLst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AD-4EB1-B351-D1E7C6E4C991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AD-4EB1-B351-D1E7C6E4C991}"/>
              </c:ext>
            </c:extLst>
          </c:dPt>
          <c:dLbls>
            <c:dLbl>
              <c:idx val="0"/>
              <c:layout>
                <c:manualLayout>
                  <c:x val="0.14432142457746339"/>
                  <c:y val="-6.189553868816385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AD-4EB1-B351-D1E7C6E4C991}"/>
                </c:ext>
              </c:extLst>
            </c:dLbl>
            <c:dLbl>
              <c:idx val="1"/>
              <c:layout>
                <c:manualLayout>
                  <c:x val="-0.10824106843309751"/>
                  <c:y val="9.456153616842638E-17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6AD-4EB1-B351-D1E7C6E4C991}"/>
                </c:ext>
              </c:extLst>
            </c:dLbl>
            <c:dLbl>
              <c:idx val="2"/>
              <c:layout>
                <c:manualLayout>
                  <c:x val="-0.11480113318661861"/>
                  <c:y val="-0.1186331158189807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6AD-4EB1-B351-D1E7C6E4C99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'Pivot table'!$A$59:$A$62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'Pivot table'!$B$59:$B$62</c:f>
              <c:numCache>
                <c:formatCode>0.00</c:formatCode>
                <c:ptCount val="3"/>
                <c:pt idx="0">
                  <c:v>552643.23999999976</c:v>
                </c:pt>
                <c:pt idx="1">
                  <c:v>480235.87000000034</c:v>
                </c:pt>
                <c:pt idx="2">
                  <c:v>231882.85000000006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AD-4EB1-B351-D1E7C6E4C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2.xlsx]Pivot table!PivotTable4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2400" b="1">
                <a:solidFill>
                  <a:schemeClr val="bg1"/>
                </a:solidFill>
              </a:rPr>
              <a:t>Order</a:t>
            </a:r>
            <a:r>
              <a:rPr lang="en-US" sz="2400" b="1" baseline="0">
                <a:solidFill>
                  <a:schemeClr val="bg1"/>
                </a:solidFill>
              </a:rPr>
              <a:t> Status Analysis</a:t>
            </a:r>
            <a:endParaRPr lang="en-US" sz="24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table'!$B$16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9F8-4B9D-A031-2647BFA0BFC7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table'!$A$17:$A$22</c:f>
              <c:strCache>
                <c:ptCount val="5"/>
                <c:pt idx="0">
                  <c:v>Cancelled</c:v>
                </c:pt>
                <c:pt idx="1">
                  <c:v>Returned</c:v>
                </c:pt>
                <c:pt idx="2">
                  <c:v>Pending</c:v>
                </c:pt>
                <c:pt idx="3">
                  <c:v>Shipped</c:v>
                </c:pt>
                <c:pt idx="4">
                  <c:v>Delivered</c:v>
                </c:pt>
              </c:strCache>
            </c:strRef>
          </c:cat>
          <c:val>
            <c:numRef>
              <c:f>'Pivot table'!$B$17:$B$22</c:f>
              <c:numCache>
                <c:formatCode>General</c:formatCod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F8-4B9D-A031-2647BFA0B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8293520"/>
        <c:axId val="288297840"/>
      </c:barChart>
      <c:catAx>
        <c:axId val="2882935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88297840"/>
        <c:crosses val="autoZero"/>
        <c:auto val="1"/>
        <c:lblAlgn val="ctr"/>
        <c:lblOffset val="100"/>
        <c:noMultiLvlLbl val="0"/>
      </c:catAx>
      <c:valAx>
        <c:axId val="28829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8293520"/>
        <c:crosses val="autoZero"/>
        <c:crossBetween val="between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0.73566</cdr:x>
      <cdr:y>0.15714</cdr:y>
    </cdr:from>
    <cdr:to>
      <cdr:x>0.96858</cdr:x>
      <cdr:y>0.68571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3CC5C260-67EE-5F26-2B4A-1EF5A5B882EF}"/>
            </a:ext>
          </a:extLst>
        </cdr:cNvPr>
        <cdr:cNvSpPr txBox="1"/>
      </cdr:nvSpPr>
      <cdr:spPr>
        <a:xfrm xmlns:a="http://schemas.openxmlformats.org/drawingml/2006/main">
          <a:off x="7960179" y="792088"/>
          <a:ext cx="2520280" cy="2664296"/>
        </a:xfrm>
        <a:prstGeom xmlns:a="http://schemas.openxmlformats.org/drawingml/2006/main" prst="rect">
          <a:avLst/>
        </a:prstGeom>
        <a:solidFill xmlns:a="http://schemas.openxmlformats.org/drawingml/2006/main">
          <a:schemeClr val="tx1"/>
        </a:solidFill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1200" b="1" kern="1200" dirty="0">
              <a:solidFill>
                <a:schemeClr val="bg1"/>
              </a:solidFill>
            </a:rPr>
            <a:t>KEY FINDINGS</a:t>
          </a:r>
        </a:p>
        <a:p xmlns:a="http://schemas.openxmlformats.org/drawingml/2006/main">
          <a:pPr algn="ctr"/>
          <a:endParaRPr lang="en-US" b="1" kern="1200" dirty="0">
            <a:solidFill>
              <a:schemeClr val="bg1"/>
            </a:solidFill>
          </a:endParaRPr>
        </a:p>
        <a:p xmlns:a="http://schemas.openxmlformats.org/drawingml/2006/main">
          <a:pPr algn="l"/>
          <a:r>
            <a:rPr lang="en-US" kern="1200" dirty="0">
              <a:solidFill>
                <a:schemeClr val="bg1"/>
              </a:solidFill>
            </a:rPr>
            <a:t>Chair generated the highest revenue</a:t>
          </a:r>
        </a:p>
        <a:p xmlns:a="http://schemas.openxmlformats.org/drawingml/2006/main">
          <a:pPr algn="l"/>
          <a:endParaRPr lang="en-US" kern="1200" dirty="0">
            <a:solidFill>
              <a:schemeClr val="bg1"/>
            </a:solidFill>
          </a:endParaRPr>
        </a:p>
        <a:p xmlns:a="http://schemas.openxmlformats.org/drawingml/2006/main">
          <a:pPr algn="l"/>
          <a:r>
            <a:rPr lang="en-US" kern="1200" dirty="0">
              <a:solidFill>
                <a:schemeClr val="bg1"/>
              </a:solidFill>
            </a:rPr>
            <a:t>Phone generated the lowest revenue</a:t>
          </a:r>
        </a:p>
        <a:p xmlns:a="http://schemas.openxmlformats.org/drawingml/2006/main">
          <a:pPr algn="l"/>
          <a:endParaRPr lang="en-US" kern="1200" dirty="0">
            <a:solidFill>
              <a:schemeClr val="bg1"/>
            </a:solidFill>
          </a:endParaRPr>
        </a:p>
        <a:p xmlns:a="http://schemas.openxmlformats.org/drawingml/2006/main">
          <a:pPr algn="l"/>
          <a:r>
            <a:rPr lang="en-US" kern="1200" dirty="0">
              <a:solidFill>
                <a:schemeClr val="bg1"/>
              </a:solidFill>
            </a:rPr>
            <a:t>Revenue is distributed fairly evenly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0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373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519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720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321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109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093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7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89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134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04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15786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704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4425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8264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5113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527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6/1/2026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6/1/2026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82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  <p:sldLayoutId id="2147484188" r:id="rId18"/>
    <p:sldLayoutId id="2147484114" r:id="rId19"/>
    <p:sldLayoutId id="2147484116" r:id="rId20"/>
    <p:sldLayoutId id="2147484117" r:id="rId21"/>
    <p:sldLayoutId id="2147484118" r:id="rId22"/>
    <p:sldLayoutId id="2147484120" r:id="rId23"/>
    <p:sldLayoutId id="2147484121" r:id="rId24"/>
    <p:sldLayoutId id="2147484124" r:id="rId25"/>
    <p:sldLayoutId id="2147484125" r:id="rId26"/>
    <p:sldLayoutId id="2147484126" r:id="rId27"/>
    <p:sldLayoutId id="2147484129" r:id="rId28"/>
    <p:sldLayoutId id="2147484132" r:id="rId29"/>
    <p:sldLayoutId id="2147484133" r:id="rId30"/>
    <p:sldLayoutId id="2147484135" r:id="rId31"/>
    <p:sldLayoutId id="2147484136" r:id="rId32"/>
    <p:sldLayoutId id="2147484138" r:id="rId33"/>
    <p:sldLayoutId id="2147484139" r:id="rId34"/>
    <p:sldLayoutId id="2147484140" r:id="rId35"/>
    <p:sldLayoutId id="2147484141" r:id="rId36"/>
    <p:sldLayoutId id="2147484142" r:id="rId37"/>
    <p:sldLayoutId id="2147484143" r:id="rId38"/>
    <p:sldLayoutId id="2147484144" r:id="rId39"/>
    <p:sldLayoutId id="2147484145" r:id="rId40"/>
    <p:sldLayoutId id="2147484146" r:id="rId41"/>
    <p:sldLayoutId id="2147484147" r:id="rId42"/>
    <p:sldLayoutId id="2147484148" r:id="rId43"/>
    <p:sldLayoutId id="2147484149" r:id="rId44"/>
    <p:sldLayoutId id="2147484150" r:id="rId45"/>
    <p:sldLayoutId id="2147484152" r:id="rId46"/>
    <p:sldLayoutId id="2147484158" r:id="rId47"/>
    <p:sldLayoutId id="2147484159" r:id="rId48"/>
    <p:sldLayoutId id="2147484160" r:id="rId49"/>
    <p:sldLayoutId id="2147484162" r:id="rId50"/>
    <p:sldLayoutId id="2147484163" r:id="rId51"/>
    <p:sldLayoutId id="2147484165" r:id="rId52"/>
    <p:sldLayoutId id="2147484166" r:id="rId53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 dirty="0"/>
              <a:t>EXPLORATORY DATA ANALYSIS ON AN E-COMMERCE DATASET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IROHA IFEANYI</a:t>
            </a:r>
          </a:p>
          <a:p>
            <a:r>
              <a:rPr lang="en-US" dirty="0"/>
              <a:t>DECODELABS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43AC-B21C-C5E5-05C0-04EF885B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 Analyze an e-commerce dataset to identify: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CCF828-0A5F-6F3B-DF5B-AAFA3420E3C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CUSTOMER BEHAVIOR</a:t>
            </a:r>
          </a:p>
          <a:p>
            <a:r>
              <a:rPr lang="en-US" dirty="0">
                <a:solidFill>
                  <a:schemeClr val="bg1"/>
                </a:solidFill>
              </a:rPr>
              <a:t>PRODUCT PERFORMNACE</a:t>
            </a:r>
          </a:p>
          <a:p>
            <a:r>
              <a:rPr lang="en-US" dirty="0">
                <a:solidFill>
                  <a:schemeClr val="bg1"/>
                </a:solidFill>
              </a:rPr>
              <a:t>SALES TRENDS</a:t>
            </a:r>
          </a:p>
          <a:p>
            <a:r>
              <a:rPr lang="en-US" dirty="0">
                <a:solidFill>
                  <a:schemeClr val="bg1"/>
                </a:solidFill>
              </a:rPr>
              <a:t>MARKETING EFFECTIVENESS</a:t>
            </a:r>
          </a:p>
          <a:p>
            <a:r>
              <a:rPr lang="en-US" dirty="0">
                <a:solidFill>
                  <a:schemeClr val="bg1"/>
                </a:solidFill>
              </a:rPr>
              <a:t>OPERATIONAL ISSUES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DATASET OVERVIEW</a:t>
            </a:r>
          </a:p>
          <a:p>
            <a:r>
              <a:rPr lang="en-US" sz="1600" dirty="0">
                <a:solidFill>
                  <a:schemeClr val="bg1"/>
                </a:solidFill>
              </a:rPr>
              <a:t>Records – 1200</a:t>
            </a:r>
          </a:p>
          <a:p>
            <a:r>
              <a:rPr lang="en-US" sz="1600" dirty="0">
                <a:solidFill>
                  <a:schemeClr val="bg1"/>
                </a:solidFill>
              </a:rPr>
              <a:t>Columns- 14</a:t>
            </a:r>
          </a:p>
          <a:p>
            <a:r>
              <a:rPr lang="en-US" sz="1600" dirty="0">
                <a:solidFill>
                  <a:schemeClr val="bg1"/>
                </a:solidFill>
              </a:rPr>
              <a:t>Time Period- 2023-2025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7551BB-EAEC-8A40-332D-76AE956A5B16}"/>
              </a:ext>
            </a:extLst>
          </p:cNvPr>
          <p:cNvCxnSpPr>
            <a:cxnSpLocks/>
          </p:cNvCxnSpPr>
          <p:nvPr/>
        </p:nvCxnSpPr>
        <p:spPr>
          <a:xfrm>
            <a:off x="839416" y="4509120"/>
            <a:ext cx="9505056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Callout: Quad Arrow 13">
            <a:extLst>
              <a:ext uri="{FF2B5EF4-FFF2-40B4-BE49-F238E27FC236}">
                <a16:creationId xmlns:a16="http://schemas.microsoft.com/office/drawing/2014/main" id="{2A12F7B6-5897-F5BB-25E9-F77EF1E1EDE1}"/>
              </a:ext>
            </a:extLst>
          </p:cNvPr>
          <p:cNvSpPr/>
          <p:nvPr/>
        </p:nvSpPr>
        <p:spPr>
          <a:xfrm>
            <a:off x="10344472" y="4082696"/>
            <a:ext cx="815447" cy="852847"/>
          </a:xfrm>
          <a:prstGeom prst="quad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5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84CD-2F47-DC61-1B69-73F6CCE9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97AD-FD70-A0D9-F952-EDC35744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</a:t>
            </a:r>
          </a:p>
          <a:p>
            <a:pPr marL="0" indent="0">
              <a:buNone/>
            </a:pPr>
            <a:r>
              <a:rPr lang="en-US" dirty="0"/>
              <a:t>Missing Values- 309 coupon code</a:t>
            </a:r>
          </a:p>
          <a:p>
            <a:pPr marL="0" indent="0">
              <a:buNone/>
            </a:pPr>
            <a:r>
              <a:rPr lang="en-US" dirty="0"/>
              <a:t>Duplicate values- None</a:t>
            </a:r>
          </a:p>
          <a:p>
            <a:pPr marL="0" indent="0">
              <a:buNone/>
            </a:pPr>
            <a:r>
              <a:rPr lang="en-US" dirty="0"/>
              <a:t>Data Types- Valid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Action Taken</a:t>
            </a:r>
          </a:p>
          <a:p>
            <a:pPr marL="0" indent="0">
              <a:buNone/>
            </a:pPr>
            <a:r>
              <a:rPr lang="en-US" dirty="0"/>
              <a:t>Verified Missing Values</a:t>
            </a:r>
          </a:p>
          <a:p>
            <a:pPr marL="0" indent="0">
              <a:buNone/>
            </a:pPr>
            <a:r>
              <a:rPr lang="en-US" dirty="0"/>
              <a:t>Checked Duplicates</a:t>
            </a:r>
          </a:p>
          <a:p>
            <a:pPr marL="0" indent="0">
              <a:buNone/>
            </a:pPr>
            <a:r>
              <a:rPr lang="en-US" dirty="0"/>
              <a:t>Prepared Data for analysis	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113F25-C6E7-064C-FDB0-418F9E46E88B}"/>
              </a:ext>
            </a:extLst>
          </p:cNvPr>
          <p:cNvCxnSpPr>
            <a:cxnSpLocks/>
            <a:stCxn id="3" idx="1"/>
          </p:cNvCxnSpPr>
          <p:nvPr/>
        </p:nvCxnSpPr>
        <p:spPr>
          <a:xfrm flipV="1">
            <a:off x="685800" y="4206622"/>
            <a:ext cx="9514656" cy="1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Callout: Quad Arrow 6">
            <a:extLst>
              <a:ext uri="{FF2B5EF4-FFF2-40B4-BE49-F238E27FC236}">
                <a16:creationId xmlns:a16="http://schemas.microsoft.com/office/drawing/2014/main" id="{BB7324AD-0BBB-EAD0-E099-2E544BF0D232}"/>
              </a:ext>
            </a:extLst>
          </p:cNvPr>
          <p:cNvSpPr/>
          <p:nvPr/>
        </p:nvSpPr>
        <p:spPr>
          <a:xfrm>
            <a:off x="10128448" y="3723335"/>
            <a:ext cx="936104" cy="966574"/>
          </a:xfrm>
          <a:prstGeom prst="quad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7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03F6-D20A-0B9B-C3B1-8C9FF587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20411"/>
          </a:xfrm>
        </p:spPr>
        <p:txBody>
          <a:bodyPr/>
          <a:lstStyle/>
          <a:p>
            <a:r>
              <a:rPr lang="en-US" dirty="0"/>
              <a:t>KEY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8054-CF86-9237-C521-639C570A3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10820400" cy="4896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Metric 			  	Quantity				Total price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Mean(Average)			    2.95					   1053.97</a:t>
            </a:r>
          </a:p>
          <a:p>
            <a:pPr marL="0" indent="0">
              <a:buNone/>
            </a:pPr>
            <a:r>
              <a:rPr lang="en-US" dirty="0"/>
              <a:t>Median				     3					    823.62</a:t>
            </a:r>
          </a:p>
          <a:p>
            <a:pPr marL="0" indent="0">
              <a:buNone/>
            </a:pPr>
            <a:r>
              <a:rPr lang="en-US" dirty="0"/>
              <a:t>Max					     5					    3456.40</a:t>
            </a:r>
          </a:p>
          <a:p>
            <a:pPr marL="0" indent="0">
              <a:buNone/>
            </a:pPr>
            <a:r>
              <a:rPr lang="en-US" dirty="0"/>
              <a:t>Min					     1				   	     11.39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INSIGHTS</a:t>
            </a:r>
          </a:p>
          <a:p>
            <a:pPr marL="0" indent="0">
              <a:buNone/>
            </a:pPr>
            <a:r>
              <a:rPr lang="en-US" dirty="0"/>
              <a:t>Average customers buys 3 items</a:t>
            </a:r>
          </a:p>
          <a:p>
            <a:pPr marL="0" indent="0">
              <a:buNone/>
            </a:pPr>
            <a:r>
              <a:rPr lang="en-US" dirty="0"/>
              <a:t>Order values vary significantly</a:t>
            </a:r>
          </a:p>
          <a:p>
            <a:pPr marL="0" indent="0">
              <a:buNone/>
            </a:pPr>
            <a:r>
              <a:rPr lang="en-US" dirty="0"/>
              <a:t>There is the presence of high-values transaction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C1CAF7-3B5F-AF58-94D7-009711B6C9A0}"/>
              </a:ext>
            </a:extLst>
          </p:cNvPr>
          <p:cNvCxnSpPr>
            <a:cxnSpLocks/>
          </p:cNvCxnSpPr>
          <p:nvPr/>
        </p:nvCxnSpPr>
        <p:spPr>
          <a:xfrm>
            <a:off x="839416" y="4509120"/>
            <a:ext cx="9433048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Callout: Quad Arrow 6">
            <a:extLst>
              <a:ext uri="{FF2B5EF4-FFF2-40B4-BE49-F238E27FC236}">
                <a16:creationId xmlns:a16="http://schemas.microsoft.com/office/drawing/2014/main" id="{E334D9A5-9D0A-2BF6-AACF-EB3003F1D0E8}"/>
              </a:ext>
            </a:extLst>
          </p:cNvPr>
          <p:cNvSpPr/>
          <p:nvPr/>
        </p:nvSpPr>
        <p:spPr>
          <a:xfrm>
            <a:off x="10272464" y="4221087"/>
            <a:ext cx="648072" cy="648401"/>
          </a:xfrm>
          <a:prstGeom prst="quad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9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7D52-694B-E19E-7957-5FD6122A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20411"/>
          </a:xfrm>
        </p:spPr>
        <p:txBody>
          <a:bodyPr/>
          <a:lstStyle/>
          <a:p>
            <a:r>
              <a:rPr lang="en-US" dirty="0"/>
              <a:t>REVENUE BY PRODUCT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1A842-161F-400E-B942-A49596B48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528864"/>
              </p:ext>
            </p:extLst>
          </p:nvPr>
        </p:nvGraphicFramePr>
        <p:xfrm>
          <a:off x="656101" y="1700808"/>
          <a:ext cx="10820400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4887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9929-9813-DED6-7D42-2D4C0AF6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92419"/>
          </a:xfrm>
        </p:spPr>
        <p:txBody>
          <a:bodyPr/>
          <a:lstStyle/>
          <a:p>
            <a:r>
              <a:rPr lang="en-US" dirty="0"/>
              <a:t>CUSTOMER BEHAVIOR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722A2A-5E7B-4FD5-A33D-8CDC5B9660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631815"/>
              </p:ext>
            </p:extLst>
          </p:nvPr>
        </p:nvGraphicFramePr>
        <p:xfrm>
          <a:off x="685800" y="1557339"/>
          <a:ext cx="6562328" cy="3959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CC1816-7DEA-DE79-FE8D-27CD4142E550}"/>
              </a:ext>
            </a:extLst>
          </p:cNvPr>
          <p:cNvSpPr txBox="1"/>
          <p:nvPr/>
        </p:nvSpPr>
        <p:spPr>
          <a:xfrm>
            <a:off x="7896200" y="1988840"/>
            <a:ext cx="3384376" cy="28931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KEY FINDINGS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Online payments is the most preferred payment method indicating good usage of digital tech.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Customer behavior is balanced across all payment methods</a:t>
            </a:r>
          </a:p>
        </p:txBody>
      </p:sp>
    </p:spTree>
    <p:extLst>
      <p:ext uri="{BB962C8B-B14F-4D97-AF65-F5344CB8AC3E}">
        <p14:creationId xmlns:p14="http://schemas.microsoft.com/office/powerpoint/2010/main" val="290043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C0A3-C5CB-24AF-8418-DF87918E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/>
              <a:t>MARKETING PERFORMANCE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1FE0E3-2C4A-466D-85AE-EB37A580B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950857"/>
              </p:ext>
            </p:extLst>
          </p:nvPr>
        </p:nvGraphicFramePr>
        <p:xfrm>
          <a:off x="685800" y="2132856"/>
          <a:ext cx="6202288" cy="3816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EBEB43-5CDA-9FE3-517B-901FCA6F7FA6}"/>
              </a:ext>
            </a:extLst>
          </p:cNvPr>
          <p:cNvSpPr txBox="1"/>
          <p:nvPr/>
        </p:nvSpPr>
        <p:spPr>
          <a:xfrm>
            <a:off x="7680176" y="2132856"/>
            <a:ext cx="3456384" cy="206210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KEY FINDINGS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Instagram brought in the most customers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Referral was the least effective</a:t>
            </a:r>
          </a:p>
        </p:txBody>
      </p:sp>
    </p:spTree>
    <p:extLst>
      <p:ext uri="{BB962C8B-B14F-4D97-AF65-F5344CB8AC3E}">
        <p14:creationId xmlns:p14="http://schemas.microsoft.com/office/powerpoint/2010/main" val="1221576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2382-A1FD-E1F8-1837-AE606D0B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92419"/>
          </a:xfrm>
        </p:spPr>
        <p:txBody>
          <a:bodyPr/>
          <a:lstStyle/>
          <a:p>
            <a:r>
              <a:rPr lang="en-US" dirty="0"/>
              <a:t>SALES TREND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A34303-3CC5-4B5C-AA2D-C3614895BE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589595"/>
              </p:ext>
            </p:extLst>
          </p:nvPr>
        </p:nvGraphicFramePr>
        <p:xfrm>
          <a:off x="685800" y="1773238"/>
          <a:ext cx="6490320" cy="3383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24B067-1A7C-0CAE-691B-20652998C854}"/>
              </a:ext>
            </a:extLst>
          </p:cNvPr>
          <p:cNvSpPr txBox="1"/>
          <p:nvPr/>
        </p:nvSpPr>
        <p:spPr>
          <a:xfrm>
            <a:off x="7896200" y="2060848"/>
            <a:ext cx="3312368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FINDINGS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2023 brought in about 44% of total sales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2025 had less sales resulting in about 18% of total sales</a:t>
            </a:r>
          </a:p>
        </p:txBody>
      </p:sp>
    </p:spTree>
    <p:extLst>
      <p:ext uri="{BB962C8B-B14F-4D97-AF65-F5344CB8AC3E}">
        <p14:creationId xmlns:p14="http://schemas.microsoft.com/office/powerpoint/2010/main" val="421290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EF2D-3A2F-3A75-E70A-315A1C97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20411"/>
          </a:xfrm>
        </p:spPr>
        <p:txBody>
          <a:bodyPr/>
          <a:lstStyle/>
          <a:p>
            <a:r>
              <a:rPr lang="en-US" dirty="0"/>
              <a:t>ORDER STATUS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35DB6-F723-4FE4-9C77-49FC886128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770000"/>
              </p:ext>
            </p:extLst>
          </p:nvPr>
        </p:nvGraphicFramePr>
        <p:xfrm>
          <a:off x="685800" y="1700213"/>
          <a:ext cx="6418312" cy="345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F7294-D1E0-90BF-0F3F-0A858AAD097C}"/>
              </a:ext>
            </a:extLst>
          </p:cNvPr>
          <p:cNvSpPr txBox="1"/>
          <p:nvPr/>
        </p:nvSpPr>
        <p:spPr>
          <a:xfrm>
            <a:off x="7968208" y="1772816"/>
            <a:ext cx="3384376" cy="369331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FINDINGS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High numbers of returned and cancelled orders which is bad for business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POTENTIAL ISSUES: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Customer satisfaction is poor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Product quality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Logistics quality</a:t>
            </a:r>
          </a:p>
        </p:txBody>
      </p:sp>
    </p:spTree>
    <p:extLst>
      <p:ext uri="{BB962C8B-B14F-4D97-AF65-F5344CB8AC3E}">
        <p14:creationId xmlns:p14="http://schemas.microsoft.com/office/powerpoint/2010/main" val="213966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72A2-678C-D3A7-4ACF-E11B9BB0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39315"/>
            <a:ext cx="8610600" cy="845469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INSIGHTS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BA7D-BAFB-AE1A-6E2C-B4D7E5343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10820400" cy="49685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INSIGHTS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Chairs and Printers drive the most revenue</a:t>
            </a:r>
          </a:p>
          <a:p>
            <a:pPr marL="457200" indent="-457200">
              <a:buAutoNum type="arabicPeriod"/>
            </a:pPr>
            <a:r>
              <a:rPr lang="en-US" dirty="0"/>
              <a:t>Instagram appears to generate the most customers</a:t>
            </a:r>
          </a:p>
          <a:p>
            <a:pPr marL="457200" indent="-457200">
              <a:buAutoNum type="arabicPeriod"/>
            </a:pPr>
            <a:r>
              <a:rPr lang="en-US" dirty="0"/>
              <a:t>Return and cancellations are high which can affect revenue generation</a:t>
            </a:r>
          </a:p>
          <a:p>
            <a:pPr marL="457200" indent="-457200">
              <a:buAutoNum type="arabicPeriod"/>
            </a:pPr>
            <a:r>
              <a:rPr lang="en-US" dirty="0"/>
              <a:t>The average purchase for customers is 3 items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RECOMMENDATIONS</a:t>
            </a:r>
          </a:p>
          <a:p>
            <a:pPr marL="457200" indent="-457200">
              <a:buAutoNum type="arabicPeriod"/>
            </a:pPr>
            <a:r>
              <a:rPr lang="en-US" dirty="0"/>
              <a:t>Investigate possible cause(s) of high returns and cancellations</a:t>
            </a:r>
          </a:p>
          <a:p>
            <a:pPr marL="457200" indent="-457200">
              <a:buAutoNum type="arabicPeriod"/>
            </a:pPr>
            <a:r>
              <a:rPr lang="en-US" dirty="0"/>
              <a:t>Expand campaign for Instagram marketing</a:t>
            </a:r>
          </a:p>
          <a:p>
            <a:pPr marL="457200" indent="-457200">
              <a:buAutoNum type="arabicPeriod"/>
            </a:pPr>
            <a:r>
              <a:rPr lang="en-US" dirty="0"/>
              <a:t>Target high-value customers</a:t>
            </a:r>
          </a:p>
          <a:p>
            <a:pPr marL="457200" indent="-457200">
              <a:buAutoNum type="arabicPeriod"/>
            </a:pPr>
            <a:r>
              <a:rPr lang="en-US" dirty="0"/>
              <a:t>Increase marketing campaigns for product generating less revenue, pair them with product that generate high revenue as bundle deals.</a:t>
            </a:r>
          </a:p>
        </p:txBody>
      </p:sp>
    </p:spTree>
    <p:extLst>
      <p:ext uri="{BB962C8B-B14F-4D97-AF65-F5344CB8AC3E}">
        <p14:creationId xmlns:p14="http://schemas.microsoft.com/office/powerpoint/2010/main" val="69508025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1408</TotalTime>
  <Words>416</Words>
  <Application>Microsoft Office PowerPoint</Application>
  <PresentationFormat>Widescreen</PresentationFormat>
  <Paragraphs>107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Vapor Trail</vt:lpstr>
      <vt:lpstr>EXPLORATORY DATA ANALYSIS ON AN E-COMMERCE DATASET</vt:lpstr>
      <vt:lpstr>OBJECTIVE: Analyze an e-commerce dataset to identify:</vt:lpstr>
      <vt:lpstr>DATA cleaning and preparation</vt:lpstr>
      <vt:lpstr>KEY STATISTICS</vt:lpstr>
      <vt:lpstr>REVENUE BY PRODUCT</vt:lpstr>
      <vt:lpstr>CUSTOMER BEHAVIOR</vt:lpstr>
      <vt:lpstr>MARKETING PERFORMANCE</vt:lpstr>
      <vt:lpstr>SALES TREND ANALYSIS</vt:lpstr>
      <vt:lpstr>ORDER STATUS ANALYSIS</vt:lpstr>
      <vt:lpstr>OVERALL INSIGHTS AND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Ifeanyi Iroha</dc:creator>
  <cp:lastModifiedBy>Ifeanyi Iroha</cp:lastModifiedBy>
  <cp:revision>1</cp:revision>
  <dcterms:created xsi:type="dcterms:W3CDTF">2026-06-01T16:14:11Z</dcterms:created>
  <dcterms:modified xsi:type="dcterms:W3CDTF">2026-06-02T15:42:39Z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